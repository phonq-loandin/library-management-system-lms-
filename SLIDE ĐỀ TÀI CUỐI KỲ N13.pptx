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</p:sldIdLst>
  <p:sldSz cx="18288000" cy="10287000"/>
  <p:notesSz cx="6858000" cy="9144000"/>
  <p:embeddedFontLst>
    <p:embeddedFont>
      <p:font typeface="Inter Bold" charset="1" panose="02000503000000020004"/>
      <p:regular r:id="rId23"/>
    </p:embeddedFont>
    <p:embeddedFont>
      <p:font typeface="Noto Sans Bold" charset="1" panose="020B0802040504020204"/>
      <p:regular r:id="rId24"/>
    </p:embeddedFont>
    <p:embeddedFont>
      <p:font typeface="Noto Sans" charset="1" panose="020B0502040504020204"/>
      <p:regular r:id="rId25"/>
    </p:embeddedFont>
    <p:embeddedFont>
      <p:font typeface="Canva Sans Bold" charset="1" panose="020B0803030501040103"/>
      <p:regular r:id="rId26"/>
    </p:embeddedFont>
    <p:embeddedFont>
      <p:font typeface="Canva Sans" charset="1" panose="020B0503030501040103"/>
      <p:regular r:id="rId27"/>
    </p:embeddedFont>
    <p:embeddedFont>
      <p:font typeface="Inter" charset="1" panose="02000503000000020004"/>
      <p:regular r:id="rId2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fonts/font23.fntdata" Type="http://schemas.openxmlformats.org/officeDocument/2006/relationships/font"/><Relationship Id="rId24" Target="fonts/font24.fntdata" Type="http://schemas.openxmlformats.org/officeDocument/2006/relationships/font"/><Relationship Id="rId25" Target="fonts/font25.fntdata" Type="http://schemas.openxmlformats.org/officeDocument/2006/relationships/font"/><Relationship Id="rId26" Target="fonts/font26.fntdata" Type="http://schemas.openxmlformats.org/officeDocument/2006/relationships/font"/><Relationship Id="rId27" Target="fonts/font27.fntdata" Type="http://schemas.openxmlformats.org/officeDocument/2006/relationships/font"/><Relationship Id="rId28" Target="fonts/font28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4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5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6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7.png" Type="http://schemas.openxmlformats.org/officeDocument/2006/relationships/image"/><Relationship Id="rId4" Target="../media/image8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9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10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11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12.pn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13.pn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818553" y="3234162"/>
            <a:ext cx="16650893" cy="27890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621"/>
              </a:lnSpc>
            </a:pPr>
            <a:r>
              <a:rPr lang="en-US" sz="4598" b="true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BÁO CÁO ĐỀ TÀI CUỐI KỲ</a:t>
            </a:r>
          </a:p>
          <a:p>
            <a:pPr algn="ctr">
              <a:lnSpc>
                <a:spcPts val="5032"/>
              </a:lnSpc>
            </a:pPr>
            <a:r>
              <a:rPr lang="en-US" b="true" sz="3494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MÔN HỌC: LẬP TRÌNH HƯỚNG ĐỐI TƯỢNG VÀ KỸ THUẬT PHẦN MỀM</a:t>
            </a:r>
          </a:p>
          <a:p>
            <a:pPr algn="ctr">
              <a:lnSpc>
                <a:spcPts val="2008"/>
              </a:lnSpc>
            </a:pPr>
          </a:p>
          <a:p>
            <a:pPr algn="ctr">
              <a:lnSpc>
                <a:spcPts val="5032"/>
              </a:lnSpc>
            </a:pPr>
            <a:r>
              <a:rPr lang="en-US" sz="3494" b="true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ĐỀ TÀI: XÂY DỰNG HỆ THỐNG QUẢN LÝ THƯ VIỆN</a:t>
            </a:r>
          </a:p>
          <a:p>
            <a:pPr algn="ctr">
              <a:lnSpc>
                <a:spcPts val="3443"/>
              </a:lnSpc>
            </a:pP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1028700" y="1761876"/>
            <a:ext cx="12039287" cy="6332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5184"/>
              </a:lnSpc>
              <a:spcBef>
                <a:spcPct val="0"/>
              </a:spcBef>
            </a:pPr>
            <a:r>
              <a:rPr lang="en-US" b="true" sz="3600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DANH SÁCH THÀNH VIÊN</a:t>
            </a:r>
          </a:p>
        </p:txBody>
      </p:sp>
      <p:graphicFrame>
        <p:nvGraphicFramePr>
          <p:cNvPr name="Table 5" id="5"/>
          <p:cNvGraphicFramePr>
            <a:graphicFrameLocks noGrp="true"/>
          </p:cNvGraphicFramePr>
          <p:nvPr/>
        </p:nvGraphicFramePr>
        <p:xfrm>
          <a:off x="2140065" y="3326717"/>
          <a:ext cx="14007870" cy="4405126"/>
        </p:xfrm>
        <a:graphic>
          <a:graphicData uri="http://schemas.openxmlformats.org/drawingml/2006/table">
            <a:tbl>
              <a:tblPr/>
              <a:tblGrid>
                <a:gridCol w="1808079"/>
                <a:gridCol w="7949863"/>
                <a:gridCol w="4249929"/>
              </a:tblGrid>
              <a:tr h="698816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 b="true">
                          <a:solidFill>
                            <a:srgbClr val="000000"/>
                          </a:solidFill>
                          <a:latin typeface="Noto Sans Bold"/>
                          <a:ea typeface="Noto Sans Bold"/>
                          <a:cs typeface="Noto Sans Bold"/>
                          <a:sym typeface="Noto Sans Bold"/>
                        </a:rPr>
                        <a:t>STT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1266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66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66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66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 b="true">
                          <a:solidFill>
                            <a:srgbClr val="000000"/>
                          </a:solidFill>
                          <a:latin typeface="Noto Sans Bold"/>
                          <a:ea typeface="Noto Sans Bold"/>
                          <a:cs typeface="Noto Sans Bold"/>
                          <a:sym typeface="Noto Sans Bold"/>
                        </a:rPr>
                        <a:t>Họ và tên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1266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66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66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66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 b="true">
                          <a:solidFill>
                            <a:srgbClr val="000000"/>
                          </a:solidFill>
                          <a:latin typeface="Noto Sans Bold"/>
                          <a:ea typeface="Noto Sans Bold"/>
                          <a:cs typeface="Noto Sans Bold"/>
                          <a:sym typeface="Noto Sans Bold"/>
                        </a:rPr>
                        <a:t>MSSV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1266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66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66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41262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>
                          <a:solidFill>
                            <a:srgbClr val="000000"/>
                          </a:solidFill>
                          <a:latin typeface="Noto Sans"/>
                          <a:ea typeface="Noto Sans"/>
                          <a:cs typeface="Noto Sans"/>
                          <a:sym typeface="Noto Sans"/>
                        </a:rPr>
                        <a:t>1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1266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66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66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66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>
                          <a:solidFill>
                            <a:srgbClr val="000000"/>
                          </a:solidFill>
                          <a:latin typeface="Noto Sans"/>
                          <a:ea typeface="Noto Sans"/>
                          <a:cs typeface="Noto Sans"/>
                          <a:sym typeface="Noto Sans"/>
                        </a:rPr>
                        <a:t>Phạm Ngọc Duy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1266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66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66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66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>
                          <a:solidFill>
                            <a:srgbClr val="000000"/>
                          </a:solidFill>
                          <a:latin typeface="Noto Sans"/>
                          <a:ea typeface="Noto Sans"/>
                          <a:cs typeface="Noto Sans"/>
                          <a:sym typeface="Noto Sans"/>
                        </a:rPr>
                        <a:t>23119130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1266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66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66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41262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>
                          <a:solidFill>
                            <a:srgbClr val="000000"/>
                          </a:solidFill>
                          <a:latin typeface="Noto Sans"/>
                          <a:ea typeface="Noto Sans"/>
                          <a:cs typeface="Noto Sans"/>
                          <a:sym typeface="Noto Sans"/>
                        </a:rPr>
                        <a:t>2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1266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66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66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66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>
                          <a:solidFill>
                            <a:srgbClr val="000000"/>
                          </a:solidFill>
                          <a:latin typeface="Noto Sans"/>
                          <a:ea typeface="Noto Sans"/>
                          <a:cs typeface="Noto Sans"/>
                          <a:sym typeface="Noto Sans"/>
                        </a:rPr>
                        <a:t>Trịnh Văn Nghiêm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1266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66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66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66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>
                          <a:solidFill>
                            <a:srgbClr val="000000"/>
                          </a:solidFill>
                          <a:latin typeface="Noto Sans"/>
                          <a:ea typeface="Noto Sans"/>
                          <a:cs typeface="Noto Sans"/>
                          <a:sym typeface="Noto Sans"/>
                        </a:rPr>
                        <a:t>23119175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1266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66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66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41262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>
                          <a:solidFill>
                            <a:srgbClr val="000000"/>
                          </a:solidFill>
                          <a:latin typeface="Noto Sans"/>
                          <a:ea typeface="Noto Sans"/>
                          <a:cs typeface="Noto Sans"/>
                          <a:sym typeface="Noto Sans"/>
                        </a:rPr>
                        <a:t>3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1266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66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66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66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>
                          <a:solidFill>
                            <a:srgbClr val="000000"/>
                          </a:solidFill>
                          <a:latin typeface="Noto Sans"/>
                          <a:ea typeface="Noto Sans"/>
                          <a:cs typeface="Noto Sans"/>
                          <a:sym typeface="Noto Sans"/>
                        </a:rPr>
                        <a:t>Trương Thanh Phong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1266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66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66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66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>
                          <a:solidFill>
                            <a:srgbClr val="000000"/>
                          </a:solidFill>
                          <a:latin typeface="Noto Sans"/>
                          <a:ea typeface="Noto Sans"/>
                          <a:cs typeface="Noto Sans"/>
                          <a:sym typeface="Noto Sans"/>
                        </a:rPr>
                        <a:t>23119190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1266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66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66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66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41262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>
                          <a:solidFill>
                            <a:srgbClr val="000000"/>
                          </a:solidFill>
                          <a:latin typeface="Noto Sans"/>
                          <a:ea typeface="Noto Sans"/>
                          <a:cs typeface="Noto Sans"/>
                          <a:sym typeface="Noto Sans"/>
                        </a:rPr>
                        <a:t>4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1266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66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66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>
                          <a:solidFill>
                            <a:srgbClr val="000000"/>
                          </a:solidFill>
                          <a:latin typeface="Noto Sans"/>
                          <a:ea typeface="Noto Sans"/>
                          <a:cs typeface="Noto Sans"/>
                          <a:sym typeface="Noto Sans"/>
                        </a:rPr>
                        <a:t>Nguyễn Mai Tin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1266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66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66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66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>
                          <a:solidFill>
                            <a:srgbClr val="000000"/>
                          </a:solidFill>
                          <a:latin typeface="Noto Sans"/>
                          <a:ea typeface="Noto Sans"/>
                          <a:cs typeface="Noto Sans"/>
                          <a:sym typeface="Noto Sans"/>
                        </a:rPr>
                        <a:t>23119211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1266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66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66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66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41262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>
                          <a:solidFill>
                            <a:srgbClr val="000000"/>
                          </a:solidFill>
                          <a:latin typeface="Noto Sans"/>
                          <a:ea typeface="Noto Sans"/>
                          <a:cs typeface="Noto Sans"/>
                          <a:sym typeface="Noto Sans"/>
                        </a:rPr>
                        <a:t>5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1266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66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66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>
                          <a:solidFill>
                            <a:srgbClr val="000000"/>
                          </a:solidFill>
                          <a:latin typeface="Noto Sans"/>
                          <a:ea typeface="Noto Sans"/>
                          <a:cs typeface="Noto Sans"/>
                          <a:sym typeface="Noto Sans"/>
                        </a:rPr>
                        <a:t>Nguyễn Nguyên Tính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1266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66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66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66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>
                          <a:solidFill>
                            <a:srgbClr val="000000"/>
                          </a:solidFill>
                          <a:latin typeface="Noto Sans"/>
                          <a:ea typeface="Noto Sans"/>
                          <a:cs typeface="Noto Sans"/>
                          <a:sym typeface="Noto Sans"/>
                        </a:rPr>
                        <a:t>23119212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1266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66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66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668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1028700" y="1778025"/>
            <a:ext cx="12039287" cy="6332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5184"/>
              </a:lnSpc>
              <a:spcBef>
                <a:spcPct val="0"/>
              </a:spcBef>
            </a:pPr>
            <a:r>
              <a:rPr lang="en-US" b="true" sz="3600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NỘI DUNG THUYẾT TRÌNH</a:t>
            </a:r>
          </a:p>
        </p:txBody>
      </p:sp>
      <p:graphicFrame>
        <p:nvGraphicFramePr>
          <p:cNvPr name="Table 5" id="5"/>
          <p:cNvGraphicFramePr>
            <a:graphicFrameLocks noGrp="true"/>
          </p:cNvGraphicFramePr>
          <p:nvPr/>
        </p:nvGraphicFramePr>
        <p:xfrm>
          <a:off x="1028700" y="2806769"/>
          <a:ext cx="11143582" cy="5619750"/>
        </p:xfrm>
        <a:graphic>
          <a:graphicData uri="http://schemas.openxmlformats.org/drawingml/2006/table">
            <a:tbl>
              <a:tblPr/>
              <a:tblGrid>
                <a:gridCol w="11143582"/>
              </a:tblGrid>
              <a:tr h="561975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22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000000"/>
                          </a:solidFill>
                          <a:latin typeface="Noto Sans Bold"/>
                          <a:ea typeface="Noto Sans Bold"/>
                          <a:cs typeface="Noto Sans Bold"/>
                          <a:sym typeface="Noto Sans Bold"/>
                        </a:rPr>
                        <a:t>Phần 1. Phân tích hệ thống quản lý thư viện</a:t>
                      </a:r>
                      <a:endParaRPr lang="en-US" sz="1100"/>
                    </a:p>
                  </a:txBody>
                  <a:tcPr marL="57150" marR="57150" marT="57150" marB="57150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1975">
                <a:tc>
                  <a:txBody>
                    <a:bodyPr anchor="t" rtlCol="false"/>
                    <a:lstStyle/>
                    <a:p>
                      <a:pPr algn="just">
                        <a:lnSpc>
                          <a:spcPts val="3220"/>
                        </a:lnSpc>
                        <a:defRPr/>
                      </a:pPr>
                      <a:r>
                        <a:rPr lang="en-US" sz="2300">
                          <a:solidFill>
                            <a:srgbClr val="000000"/>
                          </a:solidFill>
                          <a:latin typeface="Noto Sans"/>
                          <a:ea typeface="Noto Sans"/>
                          <a:cs typeface="Noto Sans"/>
                          <a:sym typeface="Noto Sans"/>
                        </a:rPr>
                        <a:t>1.1. Xác định đối tượng </a:t>
                      </a:r>
                      <a:endParaRPr lang="en-US" sz="1100"/>
                    </a:p>
                  </a:txBody>
                  <a:tcPr marL="57150" marR="57150" marT="57150" marB="57150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1975">
                <a:tc>
                  <a:txBody>
                    <a:bodyPr anchor="t" rtlCol="false"/>
                    <a:lstStyle/>
                    <a:p>
                      <a:pPr algn="just">
                        <a:lnSpc>
                          <a:spcPts val="3220"/>
                        </a:lnSpc>
                        <a:defRPr/>
                      </a:pPr>
                      <a:r>
                        <a:rPr lang="en-US" sz="2300">
                          <a:solidFill>
                            <a:srgbClr val="000000"/>
                          </a:solidFill>
                          <a:latin typeface="Noto Sans"/>
                          <a:ea typeface="Noto Sans"/>
                          <a:cs typeface="Noto Sans"/>
                          <a:sym typeface="Noto Sans"/>
                        </a:rPr>
                        <a:t>1.2. Các tính chất của hệ thống </a:t>
                      </a:r>
                      <a:endParaRPr lang="en-US" sz="1100"/>
                    </a:p>
                  </a:txBody>
                  <a:tcPr marL="57150" marR="57150" marT="57150" marB="57150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1975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22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000000"/>
                          </a:solidFill>
                          <a:latin typeface="Noto Sans Bold"/>
                          <a:ea typeface="Noto Sans Bold"/>
                          <a:cs typeface="Noto Sans Bold"/>
                          <a:sym typeface="Noto Sans Bold"/>
                        </a:rPr>
                        <a:t>Phần 2. Thiết kế và xây dựng hệ thống quản lý thư viện</a:t>
                      </a:r>
                      <a:endParaRPr lang="en-US" sz="1100"/>
                    </a:p>
                  </a:txBody>
                  <a:tcPr marL="57150" marR="57150" marT="57150" marB="57150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1975">
                <a:tc>
                  <a:txBody>
                    <a:bodyPr anchor="t" rtlCol="false"/>
                    <a:lstStyle/>
                    <a:p>
                      <a:pPr algn="just">
                        <a:lnSpc>
                          <a:spcPts val="3220"/>
                        </a:lnSpc>
                        <a:defRPr/>
                      </a:pPr>
                      <a:r>
                        <a:rPr lang="en-US" sz="2300">
                          <a:solidFill>
                            <a:srgbClr val="000000"/>
                          </a:solidFill>
                          <a:latin typeface="Noto Sans"/>
                          <a:ea typeface="Noto Sans"/>
                          <a:cs typeface="Noto Sans"/>
                          <a:sym typeface="Noto Sans"/>
                        </a:rPr>
                        <a:t>2.1. Sơ đồ khối tổng quan hệ thống</a:t>
                      </a:r>
                      <a:endParaRPr lang="en-US" sz="1100"/>
                    </a:p>
                  </a:txBody>
                  <a:tcPr marL="57150" marR="57150" marT="57150" marB="57150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1975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220"/>
                        </a:lnSpc>
                        <a:defRPr/>
                      </a:pPr>
                      <a:r>
                        <a:rPr lang="en-US" sz="2300">
                          <a:solidFill>
                            <a:srgbClr val="000000"/>
                          </a:solidFill>
                          <a:latin typeface="Noto Sans"/>
                          <a:ea typeface="Noto Sans"/>
                          <a:cs typeface="Noto Sans"/>
                          <a:sym typeface="Noto Sans"/>
                        </a:rPr>
                        <a:t>2.2. Sơ đồ chi tiết các khối chức năng của hệ thống</a:t>
                      </a:r>
                      <a:endParaRPr lang="en-US" sz="1100"/>
                    </a:p>
                  </a:txBody>
                  <a:tcPr marL="57150" marR="57150" marT="57150" marB="57150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1975">
                <a:tc>
                  <a:txBody>
                    <a:bodyPr anchor="t" rtlCol="false"/>
                    <a:lstStyle/>
                    <a:p>
                      <a:pPr algn="just">
                        <a:lnSpc>
                          <a:spcPts val="3220"/>
                        </a:lnSpc>
                        <a:defRPr/>
                      </a:pPr>
                      <a:r>
                        <a:rPr lang="en-US" sz="2300">
                          <a:solidFill>
                            <a:srgbClr val="000000"/>
                          </a:solidFill>
                          <a:latin typeface="Noto Sans"/>
                          <a:ea typeface="Noto Sans"/>
                          <a:cs typeface="Noto Sans"/>
                          <a:sym typeface="Noto Sans"/>
                        </a:rPr>
                        <a:t>2.3. Sơ đồ mô hình đối tượng</a:t>
                      </a:r>
                      <a:endParaRPr lang="en-US" sz="1100"/>
                    </a:p>
                  </a:txBody>
                  <a:tcPr marL="57150" marR="57150" marT="57150" marB="57150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1975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22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000000"/>
                          </a:solidFill>
                          <a:latin typeface="Noto Sans Bold"/>
                          <a:ea typeface="Noto Sans Bold"/>
                          <a:cs typeface="Noto Sans Bold"/>
                          <a:sym typeface="Noto Sans Bold"/>
                        </a:rPr>
                        <a:t>Phần 3. Kết luận và hướng phát triển</a:t>
                      </a:r>
                      <a:endParaRPr lang="en-US" sz="1100"/>
                    </a:p>
                  </a:txBody>
                  <a:tcPr marL="57150" marR="57150" marT="57150" marB="57150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1975">
                <a:tc>
                  <a:txBody>
                    <a:bodyPr anchor="t" rtlCol="false"/>
                    <a:lstStyle/>
                    <a:p>
                      <a:pPr algn="just">
                        <a:lnSpc>
                          <a:spcPts val="3220"/>
                        </a:lnSpc>
                        <a:defRPr/>
                      </a:pPr>
                      <a:endParaRPr lang="en-US" sz="1100"/>
                    </a:p>
                  </a:txBody>
                  <a:tcPr marL="57150" marR="57150" marT="57150" marB="57150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1975">
                <a:tc>
                  <a:txBody>
                    <a:bodyPr anchor="t" rtlCol="false"/>
                    <a:lstStyle/>
                    <a:p>
                      <a:pPr algn="just">
                        <a:lnSpc>
                          <a:spcPts val="3220"/>
                        </a:lnSpc>
                        <a:defRPr/>
                      </a:pPr>
                      <a:endParaRPr lang="en-US" sz="1100"/>
                    </a:p>
                  </a:txBody>
                  <a:tcPr marL="57150" marR="57150" marT="57150" marB="57150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aphicFrame>
        <p:nvGraphicFramePr>
          <p:cNvPr name="Table 4" id="4"/>
          <p:cNvGraphicFramePr>
            <a:graphicFrameLocks noGrp="true"/>
          </p:cNvGraphicFramePr>
          <p:nvPr/>
        </p:nvGraphicFramePr>
        <p:xfrm>
          <a:off x="1028700" y="2411247"/>
          <a:ext cx="7832989" cy="514350"/>
        </p:xfrm>
        <a:graphic>
          <a:graphicData uri="http://schemas.openxmlformats.org/drawingml/2006/table">
            <a:tbl>
              <a:tblPr/>
              <a:tblGrid>
                <a:gridCol w="7832989"/>
              </a:tblGrid>
              <a:tr h="511235">
                <a:tc>
                  <a:txBody>
                    <a:bodyPr anchor="t" rtlCol="false"/>
                    <a:lstStyle/>
                    <a:p>
                      <a:pPr algn="just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Noto Sans"/>
                          <a:ea typeface="Noto Sans"/>
                          <a:cs typeface="Noto Sans"/>
                          <a:sym typeface="Noto Sans"/>
                        </a:rPr>
                        <a:t>1.1. Xác định đối tượng </a:t>
                      </a:r>
                      <a:endParaRPr lang="en-US" sz="1100"/>
                    </a:p>
                  </a:txBody>
                  <a:tcPr marL="57150" marR="57150" marT="57150" marB="57150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name="TextBox 5" id="5"/>
          <p:cNvSpPr txBox="true"/>
          <p:nvPr/>
        </p:nvSpPr>
        <p:spPr>
          <a:xfrm rot="0">
            <a:off x="1028700" y="1778025"/>
            <a:ext cx="12039287" cy="6332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5184"/>
              </a:lnSpc>
              <a:spcBef>
                <a:spcPct val="0"/>
              </a:spcBef>
            </a:pPr>
            <a:r>
              <a:rPr lang="en-US" b="true" sz="3600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Phần 1. Phân tích hệ thống</a:t>
            </a:r>
          </a:p>
        </p:txBody>
      </p:sp>
      <p:graphicFrame>
        <p:nvGraphicFramePr>
          <p:cNvPr name="Table 6" id="6"/>
          <p:cNvGraphicFramePr>
            <a:graphicFrameLocks noGrp="true"/>
          </p:cNvGraphicFramePr>
          <p:nvPr/>
        </p:nvGraphicFramePr>
        <p:xfrm>
          <a:off x="1808580" y="3253679"/>
          <a:ext cx="14106217" cy="5275368"/>
        </p:xfrm>
        <a:graphic>
          <a:graphicData uri="http://schemas.openxmlformats.org/drawingml/2006/table">
            <a:tbl>
              <a:tblPr/>
              <a:tblGrid>
                <a:gridCol w="2821243"/>
                <a:gridCol w="2821243"/>
                <a:gridCol w="2821243"/>
                <a:gridCol w="2821243"/>
                <a:gridCol w="2821243"/>
              </a:tblGrid>
              <a:tr h="983952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80"/>
                        </a:lnSpc>
                        <a:defRPr/>
                      </a:pPr>
                      <a:r>
                        <a:rPr lang="en-US" sz="1700" b="true">
                          <a:solidFill>
                            <a:srgbClr val="FFFFFF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Tên lớp đối tượng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12668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668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668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668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80"/>
                        </a:lnSpc>
                        <a:defRPr/>
                      </a:pPr>
                      <a:r>
                        <a:rPr lang="en-US" sz="1700" b="true">
                          <a:solidFill>
                            <a:srgbClr val="FFFFFF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Thuộc tính chính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12668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668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668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668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80"/>
                        </a:lnSpc>
                        <a:defRPr/>
                      </a:pPr>
                      <a:r>
                        <a:rPr lang="en-US" sz="1700" b="true">
                          <a:solidFill>
                            <a:srgbClr val="FFFFFF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Phương thức chính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12668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668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668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668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80"/>
                        </a:lnSpc>
                        <a:defRPr/>
                      </a:pPr>
                      <a:r>
                        <a:rPr lang="en-US" sz="1700" b="true">
                          <a:solidFill>
                            <a:srgbClr val="FFFFFF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Đặc tính OOP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12668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668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668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668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80"/>
                        </a:lnSpc>
                        <a:defRPr/>
                      </a:pPr>
                      <a:r>
                        <a:rPr lang="en-US" sz="1700" b="true">
                          <a:solidFill>
                            <a:srgbClr val="FFFFFF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Chức năng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12668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668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668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668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</a:tr>
              <a:tr h="1088464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80"/>
                        </a:lnSpc>
                        <a:defRPr/>
                      </a:pPr>
                      <a:r>
                        <a:rPr lang="en-US" sz="1700" b="tru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Người (Lớp cha)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12668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668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668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668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9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80"/>
                        </a:lnSpc>
                        <a:defRPr/>
                      </a:pPr>
                      <a:r>
                        <a:rPr lang="en-US" sz="17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maNguoi, hoTen, ngaySinh, gioiTinh, soDienThoai, diaChi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12668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668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668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668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9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80"/>
                        </a:lnSpc>
                        <a:defRPr/>
                      </a:pPr>
                      <a:r>
                        <a:rPr lang="en-US" sz="17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hienThiThongTin()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12668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668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668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668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9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80"/>
                        </a:lnSpc>
                        <a:defRPr/>
                      </a:pPr>
                      <a:r>
                        <a:rPr lang="en-US" sz="17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Trừu tượng, 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12668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668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668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668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9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80"/>
                        </a:lnSpc>
                        <a:defRPr/>
                      </a:pPr>
                      <a:r>
                        <a:rPr lang="en-US" sz="17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Khung thiết kế mẫu chung, lưu trữ thông tin cá nhân cơ bản.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12668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668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668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668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9FF"/>
                    </a:solidFill>
                  </a:tcPr>
                </a:tc>
              </a:tr>
              <a:tr h="1088464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80"/>
                        </a:lnSpc>
                        <a:defRPr/>
                      </a:pPr>
                      <a:r>
                        <a:rPr lang="en-US" sz="1700" b="tru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Người đọc (Lớp con)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12668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668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668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668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80"/>
                        </a:lnSpc>
                        <a:defRPr/>
                      </a:pPr>
                      <a:r>
                        <a:rPr lang="en-US" sz="17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ngayDangKy, ngayHetHan, soSachDangMuon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12668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668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668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668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80"/>
                        </a:lnSpc>
                        <a:defRPr/>
                      </a:pPr>
                      <a:r>
                        <a:rPr lang="en-US" sz="17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duocPhepMuonSach(), tangSoSachMuon()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12668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668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668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668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80"/>
                        </a:lnSpc>
                        <a:defRPr/>
                      </a:pPr>
                      <a:r>
                        <a:rPr lang="en-US" sz="17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Kế thừa, Đa hình,Trừu tượng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12668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668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668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668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80"/>
                        </a:lnSpc>
                        <a:defRPr/>
                      </a:pPr>
                      <a:r>
                        <a:rPr lang="en-US" sz="17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Quản lý thời hạn thẻ độc giả và giới hạn số sách mượn.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12668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668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668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668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057245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80"/>
                        </a:lnSpc>
                        <a:defRPr/>
                      </a:pPr>
                      <a:r>
                        <a:rPr lang="en-US" sz="1700" b="tru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Nhân viên (Lớp con)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12668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668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668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668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9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80"/>
                        </a:lnSpc>
                        <a:defRPr/>
                      </a:pPr>
                      <a:r>
                        <a:rPr lang="en-US" sz="17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chucVu, luong, caLamViec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12668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668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668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668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9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80"/>
                        </a:lnSpc>
                        <a:defRPr/>
                      </a:pPr>
                      <a:r>
                        <a:rPr lang="en-US" sz="17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tinhLuong(), phanCaLam()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12668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668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668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668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9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80"/>
                        </a:lnSpc>
                        <a:defRPr/>
                      </a:pPr>
                      <a:r>
                        <a:rPr lang="en-US" sz="17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Kế thừa, Đa hình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12668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668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668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668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9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80"/>
                        </a:lnSpc>
                        <a:defRPr/>
                      </a:pPr>
                      <a:r>
                        <a:rPr lang="en-US" sz="17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Quản lý thông tin công việc, lương và ca làm việc.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12668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668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668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668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9FF"/>
                    </a:solidFill>
                  </a:tcPr>
                </a:tc>
              </a:tr>
              <a:tr h="1057245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80"/>
                        </a:lnSpc>
                        <a:defRPr/>
                      </a:pPr>
                      <a:r>
                        <a:rPr lang="en-US" sz="1700" b="tru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Quản trị viên (Lớp con)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12668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668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668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668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80"/>
                        </a:lnSpc>
                        <a:defRPr/>
                      </a:pPr>
                      <a:r>
                        <a:rPr lang="en-US" sz="17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username, password, quyenTruyCap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12668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668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668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668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80"/>
                        </a:lnSpc>
                        <a:defRPr/>
                      </a:pPr>
                      <a:r>
                        <a:rPr lang="en-US" sz="17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phanquyen(), khoiPhucMatKhau()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12668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668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668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668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80"/>
                        </a:lnSpc>
                        <a:defRPr/>
                      </a:pPr>
                      <a:r>
                        <a:rPr lang="en-US" sz="17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Kế thừa, Đa hình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12668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668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668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668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80"/>
                        </a:lnSpc>
                        <a:defRPr/>
                      </a:pPr>
                      <a:r>
                        <a:rPr lang="en-US" sz="17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Đăng nhập bảo mật, quản lý tài khoản và phân quyền.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12668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668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668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668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aphicFrame>
        <p:nvGraphicFramePr>
          <p:cNvPr name="Table 4" id="4"/>
          <p:cNvGraphicFramePr>
            <a:graphicFrameLocks noGrp="true"/>
          </p:cNvGraphicFramePr>
          <p:nvPr/>
        </p:nvGraphicFramePr>
        <p:xfrm>
          <a:off x="1028700" y="2411247"/>
          <a:ext cx="7832989" cy="518948"/>
        </p:xfrm>
        <a:graphic>
          <a:graphicData uri="http://schemas.openxmlformats.org/drawingml/2006/table">
            <a:tbl>
              <a:tblPr/>
              <a:tblGrid>
                <a:gridCol w="7832989"/>
              </a:tblGrid>
              <a:tr h="518948">
                <a:tc>
                  <a:txBody>
                    <a:bodyPr anchor="t" rtlCol="false"/>
                    <a:lstStyle/>
                    <a:p>
                      <a:pPr algn="just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Noto Sans"/>
                          <a:ea typeface="Noto Sans"/>
                          <a:cs typeface="Noto Sans"/>
                          <a:sym typeface="Noto Sans"/>
                        </a:rPr>
                        <a:t>1.1. Xác định đối tượng </a:t>
                      </a:r>
                      <a:endParaRPr lang="en-US" sz="1100"/>
                    </a:p>
                  </a:txBody>
                  <a:tcPr marL="57150" marR="57150" marT="57150" marB="57150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name="TextBox 5" id="5"/>
          <p:cNvSpPr txBox="true"/>
          <p:nvPr/>
        </p:nvSpPr>
        <p:spPr>
          <a:xfrm rot="0">
            <a:off x="1028700" y="1778025"/>
            <a:ext cx="12039287" cy="6332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5184"/>
              </a:lnSpc>
              <a:spcBef>
                <a:spcPct val="0"/>
              </a:spcBef>
            </a:pPr>
            <a:r>
              <a:rPr lang="en-US" b="true" sz="3600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Phần 1. Phân tích hệ thống</a:t>
            </a:r>
          </a:p>
        </p:txBody>
      </p:sp>
      <p:graphicFrame>
        <p:nvGraphicFramePr>
          <p:cNvPr name="Table 6" id="6"/>
          <p:cNvGraphicFramePr>
            <a:graphicFrameLocks noGrp="true"/>
          </p:cNvGraphicFramePr>
          <p:nvPr/>
        </p:nvGraphicFramePr>
        <p:xfrm>
          <a:off x="2084272" y="3204430"/>
          <a:ext cx="14119456" cy="5863947"/>
        </p:xfrm>
        <a:graphic>
          <a:graphicData uri="http://schemas.openxmlformats.org/drawingml/2006/table">
            <a:tbl>
              <a:tblPr/>
              <a:tblGrid>
                <a:gridCol w="3043718"/>
                <a:gridCol w="2720443"/>
                <a:gridCol w="2720443"/>
                <a:gridCol w="2720443"/>
                <a:gridCol w="2914408"/>
              </a:tblGrid>
              <a:tr h="888477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1800" b="true">
                          <a:solidFill>
                            <a:srgbClr val="FFFFFF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Tên lớp đối tượng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12668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668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668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668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1800" b="true">
                          <a:solidFill>
                            <a:srgbClr val="FFFFFF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Thuộc tính chính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12668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668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668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668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1800" b="true">
                          <a:solidFill>
                            <a:srgbClr val="FFFFFF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Phương thức chính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12668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668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668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668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1800" b="true">
                          <a:solidFill>
                            <a:srgbClr val="FFFFFF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Đặc tính OOP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12668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668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668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668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1800" b="true">
                          <a:solidFill>
                            <a:srgbClr val="FFFFFF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Chức năng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12668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668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668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668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</a:tr>
              <a:tr h="115502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1800" b="tru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Tài liệu (Lớp cha)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12668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668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668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668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9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maTaiLieu, tenTaiLieu, namXuatBan, soLuong...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12668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668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668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668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9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capNhatSoLuong()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12668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668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668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668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9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Trừu tượng, Đóng gói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12668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668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668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668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9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Khung thiết kế mẫu chung cho mọi ấn phẩm.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12668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668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668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668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9FF"/>
                    </a:solidFill>
                  </a:tcPr>
                </a:tc>
              </a:tr>
              <a:tr h="115502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1800" b="tru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Sách (Lớp con)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12668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668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668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668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(kế thừa từ Tài liệu)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12668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668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668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668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quanLySoLuong()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12668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668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668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668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Kế thừa,trừu tượng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12668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668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668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668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Quản lý số lượng và trạng thái từng đầu sách giấy.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12668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668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668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668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88477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1800" b="tru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Báo, tạp chí (Lớp con)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12668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668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668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668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9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soPhatHanh, thangPhatHanh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12668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668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668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668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9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docTaiCho()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12668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668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668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668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9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Kế thừa,Đa hình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12668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668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668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668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9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Quản lý ấn phẩm định kỳ, chỉ đọc tại chỗ.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12668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668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668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668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9FF"/>
                    </a:solidFill>
                  </a:tcPr>
                </a:tc>
              </a:tr>
              <a:tr h="888477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1800" b="tru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Giáo trình (Lớp con)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12668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668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668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668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maMonHoc, boMon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12668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668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668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668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kiemTraHocPhan()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12668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668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668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668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Kế thừa,Đa hình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12668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668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668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668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Phân loại giáo trình cho từng môn học.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12668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668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668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668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88477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1800" b="tru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Bài nghiên cứu (Lớp con)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12668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668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668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668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9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coQuanChuQuan, linhVuc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12668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668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668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668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9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traCuuNghienCuu()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12668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668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668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668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9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Kế thừa,Đa hình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12668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668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668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668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9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Quản lý luận văn, luận án và tài liệu nghiên cứu.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12668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668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668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668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9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aphicFrame>
        <p:nvGraphicFramePr>
          <p:cNvPr name="Table 4" id="4"/>
          <p:cNvGraphicFramePr>
            <a:graphicFrameLocks noGrp="true"/>
          </p:cNvGraphicFramePr>
          <p:nvPr/>
        </p:nvGraphicFramePr>
        <p:xfrm>
          <a:off x="1028700" y="2411247"/>
          <a:ext cx="7832989" cy="518948"/>
        </p:xfrm>
        <a:graphic>
          <a:graphicData uri="http://schemas.openxmlformats.org/drawingml/2006/table">
            <a:tbl>
              <a:tblPr/>
              <a:tblGrid>
                <a:gridCol w="7832989"/>
              </a:tblGrid>
              <a:tr h="518948">
                <a:tc>
                  <a:txBody>
                    <a:bodyPr anchor="t" rtlCol="false"/>
                    <a:lstStyle/>
                    <a:p>
                      <a:pPr algn="just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Noto Sans"/>
                          <a:ea typeface="Noto Sans"/>
                          <a:cs typeface="Noto Sans"/>
                          <a:sym typeface="Noto Sans"/>
                        </a:rPr>
                        <a:t>1.1. Xác định đối tượng </a:t>
                      </a:r>
                      <a:endParaRPr lang="en-US" sz="1100"/>
                    </a:p>
                  </a:txBody>
                  <a:tcPr marL="57150" marR="57150" marT="57150" marB="57150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name="TextBox 5" id="5"/>
          <p:cNvSpPr txBox="true"/>
          <p:nvPr/>
        </p:nvSpPr>
        <p:spPr>
          <a:xfrm rot="0">
            <a:off x="1028700" y="1778025"/>
            <a:ext cx="12039287" cy="6332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5184"/>
              </a:lnSpc>
              <a:spcBef>
                <a:spcPct val="0"/>
              </a:spcBef>
            </a:pPr>
            <a:r>
              <a:rPr lang="en-US" b="true" sz="3600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Phần 1. Phân tích hệ thống</a:t>
            </a:r>
          </a:p>
        </p:txBody>
      </p:sp>
      <p:graphicFrame>
        <p:nvGraphicFramePr>
          <p:cNvPr name="Table 6" id="6"/>
          <p:cNvGraphicFramePr>
            <a:graphicFrameLocks noGrp="true"/>
          </p:cNvGraphicFramePr>
          <p:nvPr/>
        </p:nvGraphicFramePr>
        <p:xfrm>
          <a:off x="2121523" y="3237129"/>
          <a:ext cx="14044954" cy="5642286"/>
        </p:xfrm>
        <a:graphic>
          <a:graphicData uri="http://schemas.openxmlformats.org/drawingml/2006/table">
            <a:tbl>
              <a:tblPr/>
              <a:tblGrid>
                <a:gridCol w="2808991"/>
                <a:gridCol w="2808991"/>
                <a:gridCol w="2808991"/>
                <a:gridCol w="2808991"/>
                <a:gridCol w="2808991"/>
              </a:tblGrid>
              <a:tr h="897433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1800" b="true">
                          <a:solidFill>
                            <a:srgbClr val="FFFFFF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Tên lớp đối tượng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12668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668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668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668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1800" b="true">
                          <a:solidFill>
                            <a:srgbClr val="FFFFFF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Thuộc tính chính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12668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668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668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668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1800" b="true">
                          <a:solidFill>
                            <a:srgbClr val="FFFFFF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Phương thức chính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12668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668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668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668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1800" b="true">
                          <a:solidFill>
                            <a:srgbClr val="FFFFFF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Đặc tính OOP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12668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668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668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668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1800" b="true">
                          <a:solidFill>
                            <a:srgbClr val="FFFFFF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Chức năng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12668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668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668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668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</a:tr>
              <a:tr h="897433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1800" b="tru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Giao dịch (Lớp cha)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12668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668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668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668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maGiaoDich, ngayGiaoDich, maNV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12668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668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668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668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thucHienGiaoDich()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12668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668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668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668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Trừu tượng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12668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668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668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668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Khuôn mẫu chung theo dõi tài liệu lưu thông.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12668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668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668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668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97433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1800" b="tru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Mượn (Lớp con)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12668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668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668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668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9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ngayHenTra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12668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668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668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668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9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ghiNhanNgayMuon(), kiemTraQuaHan()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12668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668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668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668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9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Kế thừa,Đa hình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12668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668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668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668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9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Quản lý giao dịch độc giả mượn sách.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12668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668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668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668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9FF"/>
                    </a:solidFill>
                  </a:tcPr>
                </a:tc>
              </a:tr>
              <a:tr h="897433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1800" b="tru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Trả (Lớp con)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12668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668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668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668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tienPhat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12668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668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668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668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tinhTienPhat(), xacNhanTraSach()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12668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668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668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668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Kế thừa,Đa hình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12668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668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668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668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Phát hiện quá hạn, tính tiền phạt.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12668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668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668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668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155119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1800" b="tru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Nhập (Lớp con)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12668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668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668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668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9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nhaCungCap, donGiaNhap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12668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668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668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668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9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tinhTongChiPhi()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12668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668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668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668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9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Kế thừa,Đa hình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12668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668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668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668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9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Lưu nguồn gốc tài liệu mới và tổng chi phí mua sắm.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12668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668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668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668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9FF"/>
                    </a:solidFill>
                  </a:tcPr>
                </a:tc>
              </a:tr>
              <a:tr h="897433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1800" b="tru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Xuất (Lớp con)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12668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668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668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668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lyDoXuat, donGiaThanhLy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12668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668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668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668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loaiBoTaiLieu()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12668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668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668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668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Kế thừa,Đa hình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12668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668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668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668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Lưu lý do thanh lý sách và doanh thu thanh lý.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12668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668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668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668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1028700" y="1778025"/>
            <a:ext cx="12039287" cy="6332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5184"/>
              </a:lnSpc>
              <a:spcBef>
                <a:spcPct val="0"/>
              </a:spcBef>
            </a:pPr>
            <a:r>
              <a:rPr lang="en-US" b="true" sz="3600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Phần 1. Phân tích hệ thống</a:t>
            </a:r>
          </a:p>
        </p:txBody>
      </p:sp>
      <p:graphicFrame>
        <p:nvGraphicFramePr>
          <p:cNvPr name="Table 5" id="5"/>
          <p:cNvGraphicFramePr>
            <a:graphicFrameLocks noGrp="true"/>
          </p:cNvGraphicFramePr>
          <p:nvPr/>
        </p:nvGraphicFramePr>
        <p:xfrm>
          <a:off x="1028700" y="2411247"/>
          <a:ext cx="7832989" cy="581025"/>
        </p:xfrm>
        <a:graphic>
          <a:graphicData uri="http://schemas.openxmlformats.org/drawingml/2006/table">
            <a:tbl>
              <a:tblPr/>
              <a:tblGrid>
                <a:gridCol w="7832989"/>
              </a:tblGrid>
              <a:tr h="581025">
                <a:tc>
                  <a:txBody>
                    <a:bodyPr anchor="t" rtlCol="false"/>
                    <a:lstStyle/>
                    <a:p>
                      <a:pPr algn="just">
                        <a:lnSpc>
                          <a:spcPts val="3080"/>
                        </a:lnSpc>
                        <a:defRPr/>
                      </a:pPr>
                      <a:r>
                        <a:rPr lang="en-US" sz="2200">
                          <a:solidFill>
                            <a:srgbClr val="00000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1.2.2. Tính kế thừa</a:t>
                      </a:r>
                      <a:endParaRPr lang="en-US" sz="1100"/>
                    </a:p>
                  </a:txBody>
                  <a:tcPr marL="57150" marR="57150" marT="57150" marB="57150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name="Freeform 6" id="6"/>
          <p:cNvSpPr/>
          <p:nvPr/>
        </p:nvSpPr>
        <p:spPr>
          <a:xfrm flipH="false" flipV="false" rot="0">
            <a:off x="1639626" y="3049422"/>
            <a:ext cx="15027799" cy="6362663"/>
          </a:xfrm>
          <a:custGeom>
            <a:avLst/>
            <a:gdLst/>
            <a:ahLst/>
            <a:cxnLst/>
            <a:rect r="r" b="b" t="t" l="l"/>
            <a:pathLst>
              <a:path h="6362663" w="15027799">
                <a:moveTo>
                  <a:pt x="0" y="0"/>
                </a:moveTo>
                <a:lnTo>
                  <a:pt x="15027798" y="0"/>
                </a:lnTo>
                <a:lnTo>
                  <a:pt x="15027798" y="6362662"/>
                </a:lnTo>
                <a:lnTo>
                  <a:pt x="0" y="636266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-692"/>
            </a:stretch>
          </a:blipFill>
        </p:spPr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aphicFrame>
        <p:nvGraphicFramePr>
          <p:cNvPr name="Table 4" id="4"/>
          <p:cNvGraphicFramePr>
            <a:graphicFrameLocks noGrp="true"/>
          </p:cNvGraphicFramePr>
          <p:nvPr/>
        </p:nvGraphicFramePr>
        <p:xfrm>
          <a:off x="1028700" y="2411247"/>
          <a:ext cx="7832989" cy="638175"/>
        </p:xfrm>
        <a:graphic>
          <a:graphicData uri="http://schemas.openxmlformats.org/drawingml/2006/table">
            <a:tbl>
              <a:tblPr/>
              <a:tblGrid>
                <a:gridCol w="7832989"/>
              </a:tblGrid>
              <a:tr h="638175">
                <a:tc>
                  <a:txBody>
                    <a:bodyPr anchor="t" rtlCol="false"/>
                    <a:lstStyle/>
                    <a:p>
                      <a:pPr algn="just">
                        <a:lnSpc>
                          <a:spcPts val="3500"/>
                        </a:lnSpc>
                        <a:defRPr/>
                      </a:pPr>
                      <a:endParaRPr lang="en-US" sz="1100"/>
                    </a:p>
                  </a:txBody>
                  <a:tcPr marL="57150" marR="57150" marT="57150" marB="57150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name="TextBox 5" id="5"/>
          <p:cNvSpPr txBox="true"/>
          <p:nvPr/>
        </p:nvSpPr>
        <p:spPr>
          <a:xfrm rot="0">
            <a:off x="1028700" y="1778025"/>
            <a:ext cx="12039287" cy="6332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5184"/>
              </a:lnSpc>
              <a:spcBef>
                <a:spcPct val="0"/>
              </a:spcBef>
            </a:pPr>
            <a:r>
              <a:rPr lang="en-US" b="true" sz="3600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Phần 1. Phân tích hệ thống</a:t>
            </a:r>
          </a:p>
        </p:txBody>
      </p:sp>
      <p:graphicFrame>
        <p:nvGraphicFramePr>
          <p:cNvPr name="Table 6" id="6"/>
          <p:cNvGraphicFramePr>
            <a:graphicFrameLocks noGrp="true"/>
          </p:cNvGraphicFramePr>
          <p:nvPr/>
        </p:nvGraphicFramePr>
        <p:xfrm>
          <a:off x="1028700" y="2411247"/>
          <a:ext cx="7832989" cy="581025"/>
        </p:xfrm>
        <a:graphic>
          <a:graphicData uri="http://schemas.openxmlformats.org/drawingml/2006/table">
            <a:tbl>
              <a:tblPr/>
              <a:tblGrid>
                <a:gridCol w="7832989"/>
              </a:tblGrid>
              <a:tr h="581025">
                <a:tc>
                  <a:txBody>
                    <a:bodyPr anchor="t" rtlCol="false"/>
                    <a:lstStyle/>
                    <a:p>
                      <a:pPr algn="just">
                        <a:lnSpc>
                          <a:spcPts val="3080"/>
                        </a:lnSpc>
                        <a:defRPr/>
                      </a:pPr>
                      <a:r>
                        <a:rPr lang="en-US" sz="2200">
                          <a:solidFill>
                            <a:srgbClr val="00000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1.2.1. Tính kế thừa</a:t>
                      </a:r>
                      <a:endParaRPr lang="en-US" sz="1100"/>
                    </a:p>
                  </a:txBody>
                  <a:tcPr marL="57150" marR="57150" marT="57150" marB="57150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name="Freeform 7" id="7"/>
          <p:cNvSpPr/>
          <p:nvPr/>
        </p:nvSpPr>
        <p:spPr>
          <a:xfrm flipH="false" flipV="false" rot="0">
            <a:off x="4118353" y="2796255"/>
            <a:ext cx="9486673" cy="6462045"/>
          </a:xfrm>
          <a:custGeom>
            <a:avLst/>
            <a:gdLst/>
            <a:ahLst/>
            <a:cxnLst/>
            <a:rect r="r" b="b" t="t" l="l"/>
            <a:pathLst>
              <a:path h="6462045" w="9486673">
                <a:moveTo>
                  <a:pt x="0" y="0"/>
                </a:moveTo>
                <a:lnTo>
                  <a:pt x="9486672" y="0"/>
                </a:lnTo>
                <a:lnTo>
                  <a:pt x="9486672" y="6462045"/>
                </a:lnTo>
                <a:lnTo>
                  <a:pt x="0" y="646204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aphicFrame>
        <p:nvGraphicFramePr>
          <p:cNvPr name="Table 4" id="4"/>
          <p:cNvGraphicFramePr>
            <a:graphicFrameLocks noGrp="true"/>
          </p:cNvGraphicFramePr>
          <p:nvPr/>
        </p:nvGraphicFramePr>
        <p:xfrm>
          <a:off x="1028700" y="2411247"/>
          <a:ext cx="7832989" cy="638175"/>
        </p:xfrm>
        <a:graphic>
          <a:graphicData uri="http://schemas.openxmlformats.org/drawingml/2006/table">
            <a:tbl>
              <a:tblPr/>
              <a:tblGrid>
                <a:gridCol w="7832989"/>
              </a:tblGrid>
              <a:tr h="638175">
                <a:tc>
                  <a:txBody>
                    <a:bodyPr anchor="t" rtlCol="false"/>
                    <a:lstStyle/>
                    <a:p>
                      <a:pPr algn="just">
                        <a:lnSpc>
                          <a:spcPts val="3500"/>
                        </a:lnSpc>
                        <a:defRPr/>
                      </a:pPr>
                      <a:endParaRPr lang="en-US" sz="1100"/>
                    </a:p>
                  </a:txBody>
                  <a:tcPr marL="57150" marR="57150" marT="57150" marB="57150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name="TextBox 5" id="5"/>
          <p:cNvSpPr txBox="true"/>
          <p:nvPr/>
        </p:nvSpPr>
        <p:spPr>
          <a:xfrm rot="0">
            <a:off x="1028700" y="1778025"/>
            <a:ext cx="12039287" cy="6332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5184"/>
              </a:lnSpc>
              <a:spcBef>
                <a:spcPct val="0"/>
              </a:spcBef>
            </a:pPr>
            <a:r>
              <a:rPr lang="en-US" b="true" sz="3600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Phần 1. Phân tích hệ thống</a:t>
            </a:r>
          </a:p>
        </p:txBody>
      </p:sp>
      <p:graphicFrame>
        <p:nvGraphicFramePr>
          <p:cNvPr name="Table 6" id="6"/>
          <p:cNvGraphicFramePr>
            <a:graphicFrameLocks noGrp="true"/>
          </p:cNvGraphicFramePr>
          <p:nvPr/>
        </p:nvGraphicFramePr>
        <p:xfrm>
          <a:off x="1028700" y="2411247"/>
          <a:ext cx="7832989" cy="581025"/>
        </p:xfrm>
        <a:graphic>
          <a:graphicData uri="http://schemas.openxmlformats.org/drawingml/2006/table">
            <a:tbl>
              <a:tblPr/>
              <a:tblGrid>
                <a:gridCol w="7832989"/>
              </a:tblGrid>
              <a:tr h="581025">
                <a:tc>
                  <a:txBody>
                    <a:bodyPr anchor="t" rtlCol="false"/>
                    <a:lstStyle/>
                    <a:p>
                      <a:pPr algn="just">
                        <a:lnSpc>
                          <a:spcPts val="3080"/>
                        </a:lnSpc>
                        <a:defRPr/>
                      </a:pPr>
                      <a:r>
                        <a:rPr lang="en-US" sz="2200">
                          <a:solidFill>
                            <a:srgbClr val="00000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1.2.2. Tính đa hình</a:t>
                      </a:r>
                      <a:endParaRPr lang="en-US" sz="1100"/>
                    </a:p>
                  </a:txBody>
                  <a:tcPr marL="57150" marR="57150" marT="57150" marB="57150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name="Freeform 7" id="7"/>
          <p:cNvSpPr/>
          <p:nvPr/>
        </p:nvSpPr>
        <p:spPr>
          <a:xfrm flipH="false" flipV="false" rot="0">
            <a:off x="4196402" y="3049422"/>
            <a:ext cx="9933297" cy="6160597"/>
          </a:xfrm>
          <a:custGeom>
            <a:avLst/>
            <a:gdLst/>
            <a:ahLst/>
            <a:cxnLst/>
            <a:rect r="r" b="b" t="t" l="l"/>
            <a:pathLst>
              <a:path h="6160597" w="9933297">
                <a:moveTo>
                  <a:pt x="0" y="0"/>
                </a:moveTo>
                <a:lnTo>
                  <a:pt x="9933296" y="0"/>
                </a:lnTo>
                <a:lnTo>
                  <a:pt x="9933296" y="6160597"/>
                </a:lnTo>
                <a:lnTo>
                  <a:pt x="0" y="616059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aphicFrame>
        <p:nvGraphicFramePr>
          <p:cNvPr name="Table 4" id="4"/>
          <p:cNvGraphicFramePr>
            <a:graphicFrameLocks noGrp="true"/>
          </p:cNvGraphicFramePr>
          <p:nvPr/>
        </p:nvGraphicFramePr>
        <p:xfrm>
          <a:off x="1028700" y="2411247"/>
          <a:ext cx="7832989" cy="638175"/>
        </p:xfrm>
        <a:graphic>
          <a:graphicData uri="http://schemas.openxmlformats.org/drawingml/2006/table">
            <a:tbl>
              <a:tblPr/>
              <a:tblGrid>
                <a:gridCol w="7832989"/>
              </a:tblGrid>
              <a:tr h="638175">
                <a:tc>
                  <a:txBody>
                    <a:bodyPr anchor="t" rtlCol="false"/>
                    <a:lstStyle/>
                    <a:p>
                      <a:pPr algn="just">
                        <a:lnSpc>
                          <a:spcPts val="3500"/>
                        </a:lnSpc>
                        <a:defRPr/>
                      </a:pPr>
                      <a:endParaRPr lang="en-US" sz="1100"/>
                    </a:p>
                  </a:txBody>
                  <a:tcPr marL="57150" marR="57150" marT="57150" marB="57150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name="TextBox 5" id="5"/>
          <p:cNvSpPr txBox="true"/>
          <p:nvPr/>
        </p:nvSpPr>
        <p:spPr>
          <a:xfrm rot="0">
            <a:off x="1028700" y="1778025"/>
            <a:ext cx="12039287" cy="6332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5184"/>
              </a:lnSpc>
              <a:spcBef>
                <a:spcPct val="0"/>
              </a:spcBef>
            </a:pPr>
            <a:r>
              <a:rPr lang="en-US" b="true" sz="3600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Phần 1. Phân tích hệ thống</a:t>
            </a:r>
          </a:p>
        </p:txBody>
      </p:sp>
      <p:graphicFrame>
        <p:nvGraphicFramePr>
          <p:cNvPr name="Table 6" id="6"/>
          <p:cNvGraphicFramePr>
            <a:graphicFrameLocks noGrp="true"/>
          </p:cNvGraphicFramePr>
          <p:nvPr/>
        </p:nvGraphicFramePr>
        <p:xfrm>
          <a:off x="1028700" y="2411247"/>
          <a:ext cx="7832989" cy="581025"/>
        </p:xfrm>
        <a:graphic>
          <a:graphicData uri="http://schemas.openxmlformats.org/drawingml/2006/table">
            <a:tbl>
              <a:tblPr/>
              <a:tblGrid>
                <a:gridCol w="7832989"/>
              </a:tblGrid>
              <a:tr h="581025">
                <a:tc>
                  <a:txBody>
                    <a:bodyPr anchor="t" rtlCol="false"/>
                    <a:lstStyle/>
                    <a:p>
                      <a:pPr algn="just">
                        <a:lnSpc>
                          <a:spcPts val="3080"/>
                        </a:lnSpc>
                        <a:defRPr/>
                      </a:pPr>
                      <a:r>
                        <a:rPr lang="en-US" sz="2200">
                          <a:solidFill>
                            <a:srgbClr val="00000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1.2.3. Tính đóng gói</a:t>
                      </a:r>
                      <a:endParaRPr lang="en-US" sz="1100"/>
                    </a:p>
                  </a:txBody>
                  <a:tcPr marL="57150" marR="57150" marT="57150" marB="57150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name="Freeform 7" id="7"/>
          <p:cNvSpPr/>
          <p:nvPr/>
        </p:nvSpPr>
        <p:spPr>
          <a:xfrm flipH="false" flipV="false" rot="0">
            <a:off x="4460592" y="2826306"/>
            <a:ext cx="8802193" cy="6431994"/>
          </a:xfrm>
          <a:custGeom>
            <a:avLst/>
            <a:gdLst/>
            <a:ahLst/>
            <a:cxnLst/>
            <a:rect r="r" b="b" t="t" l="l"/>
            <a:pathLst>
              <a:path h="6431994" w="8802193">
                <a:moveTo>
                  <a:pt x="0" y="0"/>
                </a:moveTo>
                <a:lnTo>
                  <a:pt x="8802194" y="0"/>
                </a:lnTo>
                <a:lnTo>
                  <a:pt x="8802194" y="6431994"/>
                </a:lnTo>
                <a:lnTo>
                  <a:pt x="0" y="643199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aphicFrame>
        <p:nvGraphicFramePr>
          <p:cNvPr name="Table 4" id="4"/>
          <p:cNvGraphicFramePr>
            <a:graphicFrameLocks noGrp="true"/>
          </p:cNvGraphicFramePr>
          <p:nvPr/>
        </p:nvGraphicFramePr>
        <p:xfrm>
          <a:off x="1028700" y="2411247"/>
          <a:ext cx="7832989" cy="638175"/>
        </p:xfrm>
        <a:graphic>
          <a:graphicData uri="http://schemas.openxmlformats.org/drawingml/2006/table">
            <a:tbl>
              <a:tblPr/>
              <a:tblGrid>
                <a:gridCol w="7832989"/>
              </a:tblGrid>
              <a:tr h="638175">
                <a:tc>
                  <a:txBody>
                    <a:bodyPr anchor="t" rtlCol="false"/>
                    <a:lstStyle/>
                    <a:p>
                      <a:pPr algn="just">
                        <a:lnSpc>
                          <a:spcPts val="3500"/>
                        </a:lnSpc>
                        <a:defRPr/>
                      </a:pPr>
                      <a:endParaRPr lang="en-US" sz="1100"/>
                    </a:p>
                  </a:txBody>
                  <a:tcPr marL="57150" marR="57150" marT="57150" marB="57150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name="TextBox 5" id="5"/>
          <p:cNvSpPr txBox="true"/>
          <p:nvPr/>
        </p:nvSpPr>
        <p:spPr>
          <a:xfrm rot="0">
            <a:off x="1028700" y="1778025"/>
            <a:ext cx="12039287" cy="6332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5184"/>
              </a:lnSpc>
              <a:spcBef>
                <a:spcPct val="0"/>
              </a:spcBef>
            </a:pPr>
            <a:r>
              <a:rPr lang="en-US" b="true" sz="3600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Phần 1. Phân tích hệ thống</a:t>
            </a:r>
          </a:p>
        </p:txBody>
      </p:sp>
      <p:graphicFrame>
        <p:nvGraphicFramePr>
          <p:cNvPr name="Table 6" id="6"/>
          <p:cNvGraphicFramePr>
            <a:graphicFrameLocks noGrp="true"/>
          </p:cNvGraphicFramePr>
          <p:nvPr/>
        </p:nvGraphicFramePr>
        <p:xfrm>
          <a:off x="1028700" y="2411247"/>
          <a:ext cx="7832989" cy="581025"/>
        </p:xfrm>
        <a:graphic>
          <a:graphicData uri="http://schemas.openxmlformats.org/drawingml/2006/table">
            <a:tbl>
              <a:tblPr/>
              <a:tblGrid>
                <a:gridCol w="7832989"/>
              </a:tblGrid>
              <a:tr h="581025">
                <a:tc>
                  <a:txBody>
                    <a:bodyPr anchor="t" rtlCol="false"/>
                    <a:lstStyle/>
                    <a:p>
                      <a:pPr algn="just">
                        <a:lnSpc>
                          <a:spcPts val="3080"/>
                        </a:lnSpc>
                        <a:defRPr/>
                      </a:pPr>
                      <a:r>
                        <a:rPr lang="en-US" sz="2200">
                          <a:solidFill>
                            <a:srgbClr val="00000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1.2.4. Tính trừu tượng</a:t>
                      </a:r>
                      <a:endParaRPr lang="en-US" sz="1100"/>
                    </a:p>
                  </a:txBody>
                  <a:tcPr marL="57150" marR="57150" marT="57150" marB="57150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name="Freeform 7" id="7"/>
          <p:cNvSpPr/>
          <p:nvPr/>
        </p:nvSpPr>
        <p:spPr>
          <a:xfrm flipH="false" flipV="false" rot="0">
            <a:off x="1028700" y="2971383"/>
            <a:ext cx="9384535" cy="3507509"/>
          </a:xfrm>
          <a:custGeom>
            <a:avLst/>
            <a:gdLst/>
            <a:ahLst/>
            <a:cxnLst/>
            <a:rect r="r" b="b" t="t" l="l"/>
            <a:pathLst>
              <a:path h="3507509" w="9384535">
                <a:moveTo>
                  <a:pt x="0" y="0"/>
                </a:moveTo>
                <a:lnTo>
                  <a:pt x="9384535" y="0"/>
                </a:lnTo>
                <a:lnTo>
                  <a:pt x="9384535" y="3507509"/>
                </a:lnTo>
                <a:lnTo>
                  <a:pt x="0" y="350750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028700" y="6478892"/>
            <a:ext cx="8115300" cy="2905574"/>
          </a:xfrm>
          <a:custGeom>
            <a:avLst/>
            <a:gdLst/>
            <a:ahLst/>
            <a:cxnLst/>
            <a:rect r="r" b="b" t="t" l="l"/>
            <a:pathLst>
              <a:path h="2905574" w="8115300">
                <a:moveTo>
                  <a:pt x="0" y="0"/>
                </a:moveTo>
                <a:lnTo>
                  <a:pt x="8115300" y="0"/>
                </a:lnTo>
                <a:lnTo>
                  <a:pt x="8115300" y="2905574"/>
                </a:lnTo>
                <a:lnTo>
                  <a:pt x="0" y="290557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aphicFrame>
        <p:nvGraphicFramePr>
          <p:cNvPr name="Table 4" id="4"/>
          <p:cNvGraphicFramePr>
            <a:graphicFrameLocks noGrp="true"/>
          </p:cNvGraphicFramePr>
          <p:nvPr/>
        </p:nvGraphicFramePr>
        <p:xfrm>
          <a:off x="1028700" y="2411247"/>
          <a:ext cx="7832989" cy="638175"/>
        </p:xfrm>
        <a:graphic>
          <a:graphicData uri="http://schemas.openxmlformats.org/drawingml/2006/table">
            <a:tbl>
              <a:tblPr/>
              <a:tblGrid>
                <a:gridCol w="7832989"/>
              </a:tblGrid>
              <a:tr h="638175">
                <a:tc>
                  <a:txBody>
                    <a:bodyPr anchor="t" rtlCol="false"/>
                    <a:lstStyle/>
                    <a:p>
                      <a:pPr algn="just">
                        <a:lnSpc>
                          <a:spcPts val="3500"/>
                        </a:lnSpc>
                        <a:defRPr/>
                      </a:pPr>
                      <a:endParaRPr lang="en-US" sz="1100"/>
                    </a:p>
                  </a:txBody>
                  <a:tcPr marL="57150" marR="57150" marT="57150" marB="57150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name="TextBox 5" id="5"/>
          <p:cNvSpPr txBox="true"/>
          <p:nvPr/>
        </p:nvSpPr>
        <p:spPr>
          <a:xfrm rot="0">
            <a:off x="1028700" y="1778025"/>
            <a:ext cx="12039287" cy="6332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5184"/>
              </a:lnSpc>
              <a:spcBef>
                <a:spcPct val="0"/>
              </a:spcBef>
            </a:pPr>
            <a:r>
              <a:rPr lang="en-US" b="true" sz="3600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Phần 2. Thiết kế và xây dựng hệ thống quản lý thư viện</a:t>
            </a:r>
          </a:p>
        </p:txBody>
      </p:sp>
      <p:graphicFrame>
        <p:nvGraphicFramePr>
          <p:cNvPr name="Table 6" id="6"/>
          <p:cNvGraphicFramePr>
            <a:graphicFrameLocks noGrp="true"/>
          </p:cNvGraphicFramePr>
          <p:nvPr/>
        </p:nvGraphicFramePr>
        <p:xfrm>
          <a:off x="1028700" y="2411247"/>
          <a:ext cx="7832989" cy="581025"/>
        </p:xfrm>
        <a:graphic>
          <a:graphicData uri="http://schemas.openxmlformats.org/drawingml/2006/table">
            <a:tbl>
              <a:tblPr/>
              <a:tblGrid>
                <a:gridCol w="7832989"/>
              </a:tblGrid>
              <a:tr h="581025">
                <a:tc>
                  <a:txBody>
                    <a:bodyPr anchor="t" rtlCol="false"/>
                    <a:lstStyle/>
                    <a:p>
                      <a:pPr algn="just">
                        <a:lnSpc>
                          <a:spcPts val="3080"/>
                        </a:lnSpc>
                        <a:defRPr/>
                      </a:pPr>
                      <a:r>
                        <a:rPr lang="en-US" sz="2200">
                          <a:solidFill>
                            <a:srgbClr val="00000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2.1. Sơ đồ khối tổng quan hệ thống</a:t>
                      </a:r>
                      <a:endParaRPr lang="en-US" sz="1100"/>
                    </a:p>
                  </a:txBody>
                  <a:tcPr marL="57150" marR="57150" marT="57150" marB="57150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name="Freeform 7" id="7"/>
          <p:cNvSpPr/>
          <p:nvPr/>
        </p:nvSpPr>
        <p:spPr>
          <a:xfrm flipH="false" flipV="false" rot="0">
            <a:off x="2504990" y="2992272"/>
            <a:ext cx="13084230" cy="6452161"/>
          </a:xfrm>
          <a:custGeom>
            <a:avLst/>
            <a:gdLst/>
            <a:ahLst/>
            <a:cxnLst/>
            <a:rect r="r" b="b" t="t" l="l"/>
            <a:pathLst>
              <a:path h="6452161" w="13084230">
                <a:moveTo>
                  <a:pt x="0" y="0"/>
                </a:moveTo>
                <a:lnTo>
                  <a:pt x="13084230" y="0"/>
                </a:lnTo>
                <a:lnTo>
                  <a:pt x="13084230" y="6452161"/>
                </a:lnTo>
                <a:lnTo>
                  <a:pt x="0" y="645216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aphicFrame>
        <p:nvGraphicFramePr>
          <p:cNvPr name="Table 4" id="4"/>
          <p:cNvGraphicFramePr>
            <a:graphicFrameLocks noGrp="true"/>
          </p:cNvGraphicFramePr>
          <p:nvPr/>
        </p:nvGraphicFramePr>
        <p:xfrm>
          <a:off x="1028700" y="2411247"/>
          <a:ext cx="7832989" cy="638175"/>
        </p:xfrm>
        <a:graphic>
          <a:graphicData uri="http://schemas.openxmlformats.org/drawingml/2006/table">
            <a:tbl>
              <a:tblPr/>
              <a:tblGrid>
                <a:gridCol w="7832989"/>
              </a:tblGrid>
              <a:tr h="638175">
                <a:tc>
                  <a:txBody>
                    <a:bodyPr anchor="t" rtlCol="false"/>
                    <a:lstStyle/>
                    <a:p>
                      <a:pPr algn="just">
                        <a:lnSpc>
                          <a:spcPts val="3500"/>
                        </a:lnSpc>
                        <a:defRPr/>
                      </a:pPr>
                      <a:endParaRPr lang="en-US" sz="1100"/>
                    </a:p>
                  </a:txBody>
                  <a:tcPr marL="57150" marR="57150" marT="57150" marB="57150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name="TextBox 5" id="5"/>
          <p:cNvSpPr txBox="true"/>
          <p:nvPr/>
        </p:nvSpPr>
        <p:spPr>
          <a:xfrm rot="0">
            <a:off x="1028700" y="1778025"/>
            <a:ext cx="12039287" cy="6332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5184"/>
              </a:lnSpc>
              <a:spcBef>
                <a:spcPct val="0"/>
              </a:spcBef>
            </a:pPr>
            <a:r>
              <a:rPr lang="en-US" b="true" sz="3600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Phần 2. Thiết kế và xây dựng hệ thống quản lý thư viện</a:t>
            </a:r>
          </a:p>
        </p:txBody>
      </p:sp>
      <p:graphicFrame>
        <p:nvGraphicFramePr>
          <p:cNvPr name="Table 6" id="6"/>
          <p:cNvGraphicFramePr>
            <a:graphicFrameLocks noGrp="true"/>
          </p:cNvGraphicFramePr>
          <p:nvPr/>
        </p:nvGraphicFramePr>
        <p:xfrm>
          <a:off x="1028700" y="2411247"/>
          <a:ext cx="7832989" cy="581025"/>
        </p:xfrm>
        <a:graphic>
          <a:graphicData uri="http://schemas.openxmlformats.org/drawingml/2006/table">
            <a:tbl>
              <a:tblPr/>
              <a:tblGrid>
                <a:gridCol w="7832989"/>
              </a:tblGrid>
              <a:tr h="581025">
                <a:tc>
                  <a:txBody>
                    <a:bodyPr anchor="t" rtlCol="false"/>
                    <a:lstStyle/>
                    <a:p>
                      <a:pPr algn="just">
                        <a:lnSpc>
                          <a:spcPts val="3080"/>
                        </a:lnSpc>
                        <a:defRPr/>
                      </a:pPr>
                      <a:r>
                        <a:rPr lang="en-US" sz="2200">
                          <a:solidFill>
                            <a:srgbClr val="00000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2.2.1. Sơ đồ chức năng trang độc giả</a:t>
                      </a:r>
                      <a:endParaRPr lang="en-US" sz="1100"/>
                    </a:p>
                  </a:txBody>
                  <a:tcPr marL="57150" marR="57150" marT="57150" marB="57150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name="Freeform 7" id="7"/>
          <p:cNvSpPr/>
          <p:nvPr/>
        </p:nvSpPr>
        <p:spPr>
          <a:xfrm flipH="false" flipV="false" rot="0">
            <a:off x="4196218" y="2992272"/>
            <a:ext cx="9895564" cy="6357718"/>
          </a:xfrm>
          <a:custGeom>
            <a:avLst/>
            <a:gdLst/>
            <a:ahLst/>
            <a:cxnLst/>
            <a:rect r="r" b="b" t="t" l="l"/>
            <a:pathLst>
              <a:path h="6357718" w="9895564">
                <a:moveTo>
                  <a:pt x="0" y="0"/>
                </a:moveTo>
                <a:lnTo>
                  <a:pt x="9895564" y="0"/>
                </a:lnTo>
                <a:lnTo>
                  <a:pt x="9895564" y="6357718"/>
                </a:lnTo>
                <a:lnTo>
                  <a:pt x="0" y="635771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aphicFrame>
        <p:nvGraphicFramePr>
          <p:cNvPr name="Table 4" id="4"/>
          <p:cNvGraphicFramePr>
            <a:graphicFrameLocks noGrp="true"/>
          </p:cNvGraphicFramePr>
          <p:nvPr/>
        </p:nvGraphicFramePr>
        <p:xfrm>
          <a:off x="1028700" y="2411247"/>
          <a:ext cx="7832989" cy="638175"/>
        </p:xfrm>
        <a:graphic>
          <a:graphicData uri="http://schemas.openxmlformats.org/drawingml/2006/table">
            <a:tbl>
              <a:tblPr/>
              <a:tblGrid>
                <a:gridCol w="7832989"/>
              </a:tblGrid>
              <a:tr h="638175">
                <a:tc>
                  <a:txBody>
                    <a:bodyPr anchor="t" rtlCol="false"/>
                    <a:lstStyle/>
                    <a:p>
                      <a:pPr algn="just">
                        <a:lnSpc>
                          <a:spcPts val="3500"/>
                        </a:lnSpc>
                        <a:defRPr/>
                      </a:pPr>
                      <a:endParaRPr lang="en-US" sz="1100"/>
                    </a:p>
                  </a:txBody>
                  <a:tcPr marL="57150" marR="57150" marT="57150" marB="57150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name="TextBox 5" id="5"/>
          <p:cNvSpPr txBox="true"/>
          <p:nvPr/>
        </p:nvSpPr>
        <p:spPr>
          <a:xfrm rot="0">
            <a:off x="1028700" y="1778025"/>
            <a:ext cx="12039287" cy="6332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5184"/>
              </a:lnSpc>
              <a:spcBef>
                <a:spcPct val="0"/>
              </a:spcBef>
            </a:pPr>
            <a:r>
              <a:rPr lang="en-US" b="true" sz="3600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Phần 2. Thiết kế và xây dựng hệ thống quản lý thư viện</a:t>
            </a:r>
          </a:p>
        </p:txBody>
      </p:sp>
      <p:graphicFrame>
        <p:nvGraphicFramePr>
          <p:cNvPr name="Table 6" id="6"/>
          <p:cNvGraphicFramePr>
            <a:graphicFrameLocks noGrp="true"/>
          </p:cNvGraphicFramePr>
          <p:nvPr/>
        </p:nvGraphicFramePr>
        <p:xfrm>
          <a:off x="1028700" y="2411247"/>
          <a:ext cx="7832989" cy="581025"/>
        </p:xfrm>
        <a:graphic>
          <a:graphicData uri="http://schemas.openxmlformats.org/drawingml/2006/table">
            <a:tbl>
              <a:tblPr/>
              <a:tblGrid>
                <a:gridCol w="7832989"/>
              </a:tblGrid>
              <a:tr h="581025">
                <a:tc>
                  <a:txBody>
                    <a:bodyPr anchor="t" rtlCol="false"/>
                    <a:lstStyle/>
                    <a:p>
                      <a:pPr algn="just">
                        <a:lnSpc>
                          <a:spcPts val="3080"/>
                        </a:lnSpc>
                        <a:defRPr/>
                      </a:pPr>
                      <a:r>
                        <a:rPr lang="en-US" sz="2200">
                          <a:solidFill>
                            <a:srgbClr val="00000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2.2.2. Sơ đồ chức năng trang quản trị</a:t>
                      </a:r>
                      <a:endParaRPr lang="en-US" sz="1100"/>
                    </a:p>
                  </a:txBody>
                  <a:tcPr marL="57150" marR="57150" marT="57150" marB="57150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name="Freeform 7" id="7"/>
          <p:cNvSpPr/>
          <p:nvPr/>
        </p:nvSpPr>
        <p:spPr>
          <a:xfrm flipH="false" flipV="false" rot="0">
            <a:off x="4273433" y="3049422"/>
            <a:ext cx="9741134" cy="6388666"/>
          </a:xfrm>
          <a:custGeom>
            <a:avLst/>
            <a:gdLst/>
            <a:ahLst/>
            <a:cxnLst/>
            <a:rect r="r" b="b" t="t" l="l"/>
            <a:pathLst>
              <a:path h="6388666" w="9741134">
                <a:moveTo>
                  <a:pt x="0" y="0"/>
                </a:moveTo>
                <a:lnTo>
                  <a:pt x="9741134" y="0"/>
                </a:lnTo>
                <a:lnTo>
                  <a:pt x="9741134" y="6388665"/>
                </a:lnTo>
                <a:lnTo>
                  <a:pt x="0" y="638866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aphicFrame>
        <p:nvGraphicFramePr>
          <p:cNvPr name="Table 4" id="4"/>
          <p:cNvGraphicFramePr>
            <a:graphicFrameLocks noGrp="true"/>
          </p:cNvGraphicFramePr>
          <p:nvPr/>
        </p:nvGraphicFramePr>
        <p:xfrm>
          <a:off x="1028700" y="2411247"/>
          <a:ext cx="7832989" cy="638175"/>
        </p:xfrm>
        <a:graphic>
          <a:graphicData uri="http://schemas.openxmlformats.org/drawingml/2006/table">
            <a:tbl>
              <a:tblPr/>
              <a:tblGrid>
                <a:gridCol w="7832989"/>
              </a:tblGrid>
              <a:tr h="638175">
                <a:tc>
                  <a:txBody>
                    <a:bodyPr anchor="t" rtlCol="false"/>
                    <a:lstStyle/>
                    <a:p>
                      <a:pPr algn="just">
                        <a:lnSpc>
                          <a:spcPts val="3500"/>
                        </a:lnSpc>
                        <a:defRPr/>
                      </a:pPr>
                      <a:endParaRPr lang="en-US" sz="1100"/>
                    </a:p>
                  </a:txBody>
                  <a:tcPr marL="57150" marR="57150" marT="57150" marB="57150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name="TextBox 5" id="5"/>
          <p:cNvSpPr txBox="true"/>
          <p:nvPr/>
        </p:nvSpPr>
        <p:spPr>
          <a:xfrm rot="0">
            <a:off x="1028700" y="1778025"/>
            <a:ext cx="12039287" cy="6332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5184"/>
              </a:lnSpc>
              <a:spcBef>
                <a:spcPct val="0"/>
              </a:spcBef>
            </a:pPr>
            <a:r>
              <a:rPr lang="en-US" b="true" sz="3600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Phần 2. Thiết kế và xây dựng hệ thống quản lý thư viện</a:t>
            </a:r>
          </a:p>
        </p:txBody>
      </p:sp>
      <p:graphicFrame>
        <p:nvGraphicFramePr>
          <p:cNvPr name="Table 6" id="6"/>
          <p:cNvGraphicFramePr>
            <a:graphicFrameLocks noGrp="true"/>
          </p:cNvGraphicFramePr>
          <p:nvPr/>
        </p:nvGraphicFramePr>
        <p:xfrm>
          <a:off x="1028700" y="2411247"/>
          <a:ext cx="7832989" cy="581025"/>
        </p:xfrm>
        <a:graphic>
          <a:graphicData uri="http://schemas.openxmlformats.org/drawingml/2006/table">
            <a:tbl>
              <a:tblPr/>
              <a:tblGrid>
                <a:gridCol w="7832989"/>
              </a:tblGrid>
              <a:tr h="581025">
                <a:tc>
                  <a:txBody>
                    <a:bodyPr anchor="t" rtlCol="false"/>
                    <a:lstStyle/>
                    <a:p>
                      <a:pPr algn="just">
                        <a:lnSpc>
                          <a:spcPts val="3080"/>
                        </a:lnSpc>
                        <a:defRPr/>
                      </a:pPr>
                      <a:r>
                        <a:rPr lang="en-US" sz="2200">
                          <a:solidFill>
                            <a:srgbClr val="00000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2.2.3. Sơ đồ mượn tài liệu</a:t>
                      </a:r>
                      <a:endParaRPr lang="en-US" sz="1100"/>
                    </a:p>
                  </a:txBody>
                  <a:tcPr marL="57150" marR="57150" marT="57150" marB="57150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name="Freeform 7" id="7"/>
          <p:cNvSpPr/>
          <p:nvPr/>
        </p:nvSpPr>
        <p:spPr>
          <a:xfrm flipH="false" flipV="false" rot="0">
            <a:off x="5075184" y="2545554"/>
            <a:ext cx="8137632" cy="6993788"/>
          </a:xfrm>
          <a:custGeom>
            <a:avLst/>
            <a:gdLst/>
            <a:ahLst/>
            <a:cxnLst/>
            <a:rect r="r" b="b" t="t" l="l"/>
            <a:pathLst>
              <a:path h="6993788" w="8137632">
                <a:moveTo>
                  <a:pt x="0" y="0"/>
                </a:moveTo>
                <a:lnTo>
                  <a:pt x="8137632" y="0"/>
                </a:lnTo>
                <a:lnTo>
                  <a:pt x="8137632" y="6993789"/>
                </a:lnTo>
                <a:lnTo>
                  <a:pt x="0" y="699378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aphicFrame>
        <p:nvGraphicFramePr>
          <p:cNvPr name="Table 4" id="4"/>
          <p:cNvGraphicFramePr>
            <a:graphicFrameLocks noGrp="true"/>
          </p:cNvGraphicFramePr>
          <p:nvPr/>
        </p:nvGraphicFramePr>
        <p:xfrm>
          <a:off x="1028700" y="2411247"/>
          <a:ext cx="7832989" cy="638175"/>
        </p:xfrm>
        <a:graphic>
          <a:graphicData uri="http://schemas.openxmlformats.org/drawingml/2006/table">
            <a:tbl>
              <a:tblPr/>
              <a:tblGrid>
                <a:gridCol w="7832989"/>
              </a:tblGrid>
              <a:tr h="638175">
                <a:tc>
                  <a:txBody>
                    <a:bodyPr anchor="t" rtlCol="false"/>
                    <a:lstStyle/>
                    <a:p>
                      <a:pPr algn="just">
                        <a:lnSpc>
                          <a:spcPts val="3500"/>
                        </a:lnSpc>
                        <a:defRPr/>
                      </a:pPr>
                      <a:endParaRPr lang="en-US" sz="1100"/>
                    </a:p>
                  </a:txBody>
                  <a:tcPr marL="57150" marR="57150" marT="57150" marB="57150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name="TextBox 5" id="5"/>
          <p:cNvSpPr txBox="true"/>
          <p:nvPr/>
        </p:nvSpPr>
        <p:spPr>
          <a:xfrm rot="0">
            <a:off x="1028700" y="1778025"/>
            <a:ext cx="12039287" cy="6332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5184"/>
              </a:lnSpc>
              <a:spcBef>
                <a:spcPct val="0"/>
              </a:spcBef>
            </a:pPr>
            <a:r>
              <a:rPr lang="en-US" b="true" sz="3600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Phần 2. Thiết kế và xây dựng hệ thống quản lý thư viện</a:t>
            </a:r>
          </a:p>
        </p:txBody>
      </p:sp>
      <p:graphicFrame>
        <p:nvGraphicFramePr>
          <p:cNvPr name="Table 6" id="6"/>
          <p:cNvGraphicFramePr>
            <a:graphicFrameLocks noGrp="true"/>
          </p:cNvGraphicFramePr>
          <p:nvPr/>
        </p:nvGraphicFramePr>
        <p:xfrm>
          <a:off x="1028700" y="2411247"/>
          <a:ext cx="7832989" cy="581025"/>
        </p:xfrm>
        <a:graphic>
          <a:graphicData uri="http://schemas.openxmlformats.org/drawingml/2006/table">
            <a:tbl>
              <a:tblPr/>
              <a:tblGrid>
                <a:gridCol w="7832989"/>
              </a:tblGrid>
              <a:tr h="581025">
                <a:tc>
                  <a:txBody>
                    <a:bodyPr anchor="t" rtlCol="false"/>
                    <a:lstStyle/>
                    <a:p>
                      <a:pPr algn="just">
                        <a:lnSpc>
                          <a:spcPts val="3080"/>
                        </a:lnSpc>
                        <a:defRPr/>
                      </a:pPr>
                      <a:r>
                        <a:rPr lang="en-US" sz="2200">
                          <a:solidFill>
                            <a:srgbClr val="00000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2.2.4. Sơ đồ trả tài liệu</a:t>
                      </a:r>
                      <a:endParaRPr lang="en-US" sz="1100"/>
                    </a:p>
                  </a:txBody>
                  <a:tcPr marL="57150" marR="57150" marT="57150" marB="57150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name="Freeform 7" id="7"/>
          <p:cNvSpPr/>
          <p:nvPr/>
        </p:nvSpPr>
        <p:spPr>
          <a:xfrm flipH="false" flipV="false" rot="0">
            <a:off x="4322905" y="2701759"/>
            <a:ext cx="9077567" cy="6825048"/>
          </a:xfrm>
          <a:custGeom>
            <a:avLst/>
            <a:gdLst/>
            <a:ahLst/>
            <a:cxnLst/>
            <a:rect r="r" b="b" t="t" l="l"/>
            <a:pathLst>
              <a:path h="6825048" w="9077567">
                <a:moveTo>
                  <a:pt x="0" y="0"/>
                </a:moveTo>
                <a:lnTo>
                  <a:pt x="9077568" y="0"/>
                </a:lnTo>
                <a:lnTo>
                  <a:pt x="9077568" y="6825049"/>
                </a:lnTo>
                <a:lnTo>
                  <a:pt x="0" y="682504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aphicFrame>
        <p:nvGraphicFramePr>
          <p:cNvPr name="Table 4" id="4"/>
          <p:cNvGraphicFramePr>
            <a:graphicFrameLocks noGrp="true"/>
          </p:cNvGraphicFramePr>
          <p:nvPr/>
        </p:nvGraphicFramePr>
        <p:xfrm>
          <a:off x="1028700" y="2411247"/>
          <a:ext cx="7832989" cy="638175"/>
        </p:xfrm>
        <a:graphic>
          <a:graphicData uri="http://schemas.openxmlformats.org/drawingml/2006/table">
            <a:tbl>
              <a:tblPr/>
              <a:tblGrid>
                <a:gridCol w="7832989"/>
              </a:tblGrid>
              <a:tr h="638175">
                <a:tc>
                  <a:txBody>
                    <a:bodyPr anchor="t" rtlCol="false"/>
                    <a:lstStyle/>
                    <a:p>
                      <a:pPr algn="just">
                        <a:lnSpc>
                          <a:spcPts val="3500"/>
                        </a:lnSpc>
                        <a:defRPr/>
                      </a:pPr>
                      <a:endParaRPr lang="en-US" sz="1100"/>
                    </a:p>
                  </a:txBody>
                  <a:tcPr marL="57150" marR="57150" marT="57150" marB="57150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name="TextBox 5" id="5"/>
          <p:cNvSpPr txBox="true"/>
          <p:nvPr/>
        </p:nvSpPr>
        <p:spPr>
          <a:xfrm rot="0">
            <a:off x="1028700" y="1778025"/>
            <a:ext cx="12039287" cy="6332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5184"/>
              </a:lnSpc>
              <a:spcBef>
                <a:spcPct val="0"/>
              </a:spcBef>
            </a:pPr>
            <a:r>
              <a:rPr lang="en-US" b="true" sz="3600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Phần 3. Kết luận và hướng phát triển</a:t>
            </a:r>
          </a:p>
        </p:txBody>
      </p:sp>
      <p:graphicFrame>
        <p:nvGraphicFramePr>
          <p:cNvPr name="Table 6" id="6"/>
          <p:cNvGraphicFramePr>
            <a:graphicFrameLocks noGrp="true"/>
          </p:cNvGraphicFramePr>
          <p:nvPr/>
        </p:nvGraphicFramePr>
        <p:xfrm>
          <a:off x="1028700" y="2992272"/>
          <a:ext cx="11451080" cy="2533650"/>
        </p:xfrm>
        <a:graphic>
          <a:graphicData uri="http://schemas.openxmlformats.org/drawingml/2006/table">
            <a:tbl>
              <a:tblPr/>
              <a:tblGrid>
                <a:gridCol w="11451080"/>
              </a:tblGrid>
              <a:tr h="2533650">
                <a:tc>
                  <a:txBody>
                    <a:bodyPr anchor="t" rtlCol="false"/>
                    <a:lstStyle/>
                    <a:p>
                      <a:pPr algn="just" marL="474992" indent="-237496" lvl="1">
                        <a:lnSpc>
                          <a:spcPts val="3080"/>
                        </a:lnSpc>
                        <a:buFont typeface="Arial"/>
                        <a:buChar char="•"/>
                        <a:defRPr/>
                      </a:pPr>
                      <a:r>
                        <a:rPr lang="en-US" sz="2200">
                          <a:solidFill>
                            <a:srgbClr val="00000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Hoàn thành các nghiệp vụ quản lý thư viện cơ bản.</a:t>
                      </a:r>
                      <a:endParaRPr lang="en-US" sz="1100"/>
                    </a:p>
                    <a:p>
                      <a:pPr algn="just" marL="474992" indent="-237496" lvl="1">
                        <a:lnSpc>
                          <a:spcPts val="3080"/>
                        </a:lnSpc>
                        <a:buFont typeface="Arial"/>
                        <a:buChar char="•"/>
                      </a:pPr>
                      <a:r>
                        <a:rPr lang="en-US" sz="2200">
                          <a:solidFill>
                            <a:srgbClr val="00000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Xây dựng 3 phân hệ chính: Người dùng – Tài liệu – Giao dịch.</a:t>
                      </a:r>
                    </a:p>
                    <a:p>
                      <a:pPr algn="just" marL="474992" indent="-237496" lvl="1">
                        <a:lnSpc>
                          <a:spcPts val="3080"/>
                        </a:lnSpc>
                        <a:buFont typeface="Arial"/>
                        <a:buChar char="•"/>
                      </a:pPr>
                      <a:r>
                        <a:rPr lang="en-US" sz="2200">
                          <a:solidFill>
                            <a:srgbClr val="00000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Áp dụng đầy đủ 4 tính chất của lập trình hướng đối tượng.</a:t>
                      </a:r>
                    </a:p>
                    <a:p>
                      <a:pPr algn="just" marL="474992" indent="-237496" lvl="1">
                        <a:lnSpc>
                          <a:spcPts val="3080"/>
                        </a:lnSpc>
                        <a:buFont typeface="Arial"/>
                        <a:buChar char="•"/>
                      </a:pPr>
                      <a:r>
                        <a:rPr lang="en-US" sz="2200">
                          <a:solidFill>
                            <a:srgbClr val="00000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Sử dụng Template và Smart Pointer trong C++.</a:t>
                      </a:r>
                    </a:p>
                    <a:p>
                      <a:pPr algn="just" marL="474992" indent="-237496" lvl="1">
                        <a:lnSpc>
                          <a:spcPts val="3080"/>
                        </a:lnSpc>
                        <a:buFont typeface="Arial"/>
                        <a:buChar char="•"/>
                      </a:pPr>
                      <a:r>
                        <a:rPr lang="en-US" sz="2200">
                          <a:solidFill>
                            <a:srgbClr val="00000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Triển khai hệ thống dưới 3 dạng: Console, Web Server và Website.</a:t>
                      </a:r>
                    </a:p>
                    <a:p>
                      <a:pPr algn="just">
                        <a:lnSpc>
                          <a:spcPts val="3080"/>
                        </a:lnSpc>
                      </a:pPr>
                    </a:p>
                  </a:txBody>
                  <a:tcPr marL="57150" marR="57150" marT="57150" marB="57150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name="Table 7" id="7"/>
          <p:cNvGraphicFramePr>
            <a:graphicFrameLocks noGrp="true"/>
          </p:cNvGraphicFramePr>
          <p:nvPr/>
        </p:nvGraphicFramePr>
        <p:xfrm>
          <a:off x="1028700" y="2411247"/>
          <a:ext cx="7832989" cy="581025"/>
        </p:xfrm>
        <a:graphic>
          <a:graphicData uri="http://schemas.openxmlformats.org/drawingml/2006/table">
            <a:tbl>
              <a:tblPr/>
              <a:tblGrid>
                <a:gridCol w="7832989"/>
              </a:tblGrid>
              <a:tr h="581025">
                <a:tc>
                  <a:txBody>
                    <a:bodyPr anchor="t" rtlCol="false"/>
                    <a:lstStyle/>
                    <a:p>
                      <a:pPr algn="just">
                        <a:lnSpc>
                          <a:spcPts val="3080"/>
                        </a:lnSpc>
                        <a:defRPr/>
                      </a:pPr>
                      <a:r>
                        <a:rPr lang="en-US" sz="2200">
                          <a:solidFill>
                            <a:srgbClr val="00000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3.1. Kết luận</a:t>
                      </a:r>
                      <a:endParaRPr lang="en-US" sz="1100"/>
                    </a:p>
                  </a:txBody>
                  <a:tcPr marL="57150" marR="57150" marT="57150" marB="57150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name="Table 8" id="8"/>
          <p:cNvGraphicFramePr>
            <a:graphicFrameLocks noGrp="true"/>
          </p:cNvGraphicFramePr>
          <p:nvPr/>
        </p:nvGraphicFramePr>
        <p:xfrm>
          <a:off x="1028700" y="5235409"/>
          <a:ext cx="7832989" cy="581025"/>
        </p:xfrm>
        <a:graphic>
          <a:graphicData uri="http://schemas.openxmlformats.org/drawingml/2006/table">
            <a:tbl>
              <a:tblPr/>
              <a:tblGrid>
                <a:gridCol w="7832989"/>
              </a:tblGrid>
              <a:tr h="581025">
                <a:tc>
                  <a:txBody>
                    <a:bodyPr anchor="t" rtlCol="false"/>
                    <a:lstStyle/>
                    <a:p>
                      <a:pPr algn="just">
                        <a:lnSpc>
                          <a:spcPts val="3080"/>
                        </a:lnSpc>
                        <a:defRPr/>
                      </a:pPr>
                      <a:r>
                        <a:rPr lang="en-US" sz="2200">
                          <a:solidFill>
                            <a:srgbClr val="00000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3.2. Hướng phát triển</a:t>
                      </a:r>
                      <a:endParaRPr lang="en-US" sz="1100"/>
                    </a:p>
                  </a:txBody>
                  <a:tcPr marL="57150" marR="57150" marT="57150" marB="57150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name="Table 9" id="9"/>
          <p:cNvGraphicFramePr>
            <a:graphicFrameLocks noGrp="true"/>
          </p:cNvGraphicFramePr>
          <p:nvPr/>
        </p:nvGraphicFramePr>
        <p:xfrm>
          <a:off x="1028700" y="5816434"/>
          <a:ext cx="11451080" cy="2924175"/>
        </p:xfrm>
        <a:graphic>
          <a:graphicData uri="http://schemas.openxmlformats.org/drawingml/2006/table">
            <a:tbl>
              <a:tblPr/>
              <a:tblGrid>
                <a:gridCol w="11451080"/>
              </a:tblGrid>
              <a:tr h="2924175">
                <a:tc>
                  <a:txBody>
                    <a:bodyPr anchor="t" rtlCol="false"/>
                    <a:lstStyle/>
                    <a:p>
                      <a:pPr algn="l" marL="474992" indent="-237496" lvl="1">
                        <a:lnSpc>
                          <a:spcPts val="3080"/>
                        </a:lnSpc>
                        <a:buFont typeface="Arial"/>
                        <a:buChar char="•"/>
                        <a:defRPr/>
                      </a:pPr>
                      <a:r>
                        <a:rPr lang="en-US" sz="2200">
                          <a:solidFill>
                            <a:srgbClr val="00000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Bổ sung cơ sở dữ liệu</a:t>
                      </a:r>
                      <a:endParaRPr lang="en-US" sz="1100"/>
                    </a:p>
                    <a:p>
                      <a:pPr algn="l" marL="474992" indent="-237496" lvl="1">
                        <a:lnSpc>
                          <a:spcPts val="3080"/>
                        </a:lnSpc>
                        <a:buFont typeface="Arial"/>
                        <a:buChar char="•"/>
                      </a:pPr>
                      <a:r>
                        <a:rPr lang="en-US" sz="2200">
                          <a:solidFill>
                            <a:srgbClr val="00000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Đồng bộ dữ liệu</a:t>
                      </a:r>
                    </a:p>
                    <a:p>
                      <a:pPr algn="l" marL="474992" indent="-237496" lvl="1">
                        <a:lnSpc>
                          <a:spcPts val="3080"/>
                        </a:lnSpc>
                        <a:buFont typeface="Arial"/>
                        <a:buChar char="•"/>
                      </a:pPr>
                      <a:r>
                        <a:rPr lang="en-US" sz="2200">
                          <a:solidFill>
                            <a:srgbClr val="00000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Tăng cường bảo mật</a:t>
                      </a:r>
                    </a:p>
                    <a:p>
                      <a:pPr algn="l" marL="474992" indent="-237496" lvl="1">
                        <a:lnSpc>
                          <a:spcPts val="3080"/>
                        </a:lnSpc>
                        <a:buFont typeface="Arial"/>
                        <a:buChar char="•"/>
                      </a:pPr>
                      <a:r>
                        <a:rPr lang="en-US" sz="2200">
                          <a:solidFill>
                            <a:srgbClr val="00000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Gửi email nhắc hạn trả sách</a:t>
                      </a:r>
                    </a:p>
                    <a:p>
                      <a:pPr algn="l" marL="474992" indent="-237496" lvl="1">
                        <a:lnSpc>
                          <a:spcPts val="3080"/>
                        </a:lnSpc>
                        <a:buFont typeface="Arial"/>
                        <a:buChar char="•"/>
                      </a:pPr>
                      <a:r>
                        <a:rPr lang="en-US" sz="2200">
                          <a:solidFill>
                            <a:srgbClr val="00000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Phát triển ứng dụng di động</a:t>
                      </a:r>
                    </a:p>
                    <a:p>
                      <a:pPr algn="l" marL="474992" indent="-237496" lvl="1">
                        <a:lnSpc>
                          <a:spcPts val="3080"/>
                        </a:lnSpc>
                        <a:buFont typeface="Arial"/>
                        <a:buChar char="•"/>
                      </a:pPr>
                      <a:r>
                        <a:rPr lang="en-US" sz="2200">
                          <a:solidFill>
                            <a:srgbClr val="00000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Tích hợp mã vạch hoặc mã QR</a:t>
                      </a:r>
                    </a:p>
                    <a:p>
                      <a:pPr algn="l" marL="474992" indent="-237496" lvl="1">
                        <a:lnSpc>
                          <a:spcPts val="3080"/>
                        </a:lnSpc>
                        <a:buFont typeface="Arial"/>
                        <a:buChar char="•"/>
                      </a:pPr>
                      <a:r>
                        <a:rPr lang="en-US" sz="2200">
                          <a:solidFill>
                            <a:srgbClr val="00000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Quản lý tài liệu điện tử và xây dựng báo cáo thống kê. </a:t>
                      </a:r>
                    </a:p>
                  </a:txBody>
                  <a:tcPr marL="57150" marR="57150" marT="57150" marB="57150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DAHNfXKUw48</dc:identifier>
  <dcterms:modified xsi:type="dcterms:W3CDTF">2011-08-01T06:04:30Z</dcterms:modified>
  <cp:revision>1</cp:revision>
  <dc:title>OOP Library</dc:title>
</cp:coreProperties>
</file>